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15197C7-8962-A27D-1244-4F04305FB25C}">
          <p14:sldIdLst>
            <p14:sldId id="256"/>
            <p14:sldId id="257"/>
            <p14:sldId id="258"/>
          </p14:sldIdLst>
        </p14:section>
        <p14:section name="Design" id="{7B3A6765-489C-C25D-6A20-90ACFC640C1D}">
          <p14:sldIdLst>
            <p14:sldId id="259"/>
            <p14:sldId id="260"/>
          </p14:sldIdLst>
        </p14:section>
        <p14:section name="Sprint" id="{A065AAAE-AFB3-B424-CE3C-9B2C760C374D}">
          <p14:sldIdLst>
            <p14:sldId id="261"/>
            <p14:sldId id="262"/>
            <p14:sldId id="263"/>
          </p14:sldIdLst>
        </p14:section>
        <p14:section name="Team and delivery" id="{83C68F14-6284-E92E-F9A3-9265867FC9A5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54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14884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61188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HEXASHOP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HEXASHOP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2A9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731520" y="1463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</a:rPr>
              <a:t>DAY 1 HOMEWORK   |   ADVANCED SOFTWARE DEVELOPMENT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148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bg1"/>
                </a:solidFill>
              </a:rPr>
              <a:t>HEXASHOP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6118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chemeClr val="accent6"/>
                </a:solidFill>
              </a:rPr>
              <a:t>Architecture and Sprint Planning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Regis     Dianee</a:t>
            </a:r>
            <a:endParaRPr lang="en-US" sz="1800" dirty="0"/>
          </a:p>
        </p:txBody>
      </p:sp>
      <p:sp>
        <p:nvSpPr>
          <p:cNvPr id="6" name="Hero circle 3"/>
          <p:cNvSpPr/>
          <p:nvPr/>
        </p:nvSpPr>
        <p:spPr>
          <a:xfrm>
            <a:off x="7818120" y="1234440"/>
            <a:ext cx="4023360" cy="4023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Hero ring 4"/>
          <p:cNvSpPr/>
          <p:nvPr/>
        </p:nvSpPr>
        <p:spPr>
          <a:xfrm>
            <a:off x="7315200" y="777240"/>
            <a:ext cx="4937760" cy="4937760"/>
          </a:xfrm>
          <a:prstGeom prst="ellipse">
            <a:avLst/>
          </a:prstGeom>
          <a:ln w="25400">
            <a:solidFill>
              <a:schemeClr val="accent4"/>
            </a:solidFill>
            <a:prstDash val="solid"/>
          </a:ln>
        </p:spPr>
      </p:sp>
      <p:sp>
        <p:nvSpPr>
          <p:cNvPr id="8" name="Hero dot 5"/>
          <p:cNvSpPr/>
          <p:nvPr/>
        </p:nvSpPr>
        <p:spPr>
          <a:xfrm>
            <a:off x="7498080" y="466344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" name="Hero icon 6" descr="T-shir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2402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HEXASHOP is</a:t>
            </a:r>
            <a:endParaRPr lang="en-US" sz="3600" dirty="0"/>
          </a:p>
        </p:txBody>
      </p:sp>
      <p:sp>
        <p:nvSpPr>
          <p:cNvPr id="3" name="Text 7"/>
          <p:cNvSpPr txBox="1"/>
          <p:nvPr/>
        </p:nvSpPr>
        <p:spPr>
          <a:xfrm>
            <a:off x="548640" y="1554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An online fashion shopping website for men, women, and children.</a:t>
            </a:r>
            <a:endParaRPr lang="en-US" sz="2400" dirty="0"/>
          </a:p>
        </p:txBody>
      </p:sp>
      <p:sp>
        <p:nvSpPr>
          <p:cNvPr id="4" name="Text 8"/>
          <p:cNvSpPr txBox="1"/>
          <p:nvPr/>
        </p:nvSpPr>
        <p:spPr>
          <a:xfrm>
            <a:off x="548640" y="26060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Customers browse product photos, descriptions, and prices, add items to a cart, update quantities, and place an order. An administrator manages the catalogue, prices, stock, and orders.</a:t>
            </a:r>
            <a:endParaRPr lang="en-US" sz="1800" dirty="0"/>
          </a:p>
        </p:txBody>
      </p:sp>
      <p:sp>
        <p:nvSpPr>
          <p:cNvPr id="5" name="Text 9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4"/>
                </a:solidFill>
              </a:rPr>
              <a:t>SHOP BY CATEGORY</a:t>
            </a:r>
            <a:endParaRPr lang="en-US" sz="1400" dirty="0"/>
          </a:p>
        </p:txBody>
      </p:sp>
      <p:sp>
        <p:nvSpPr>
          <p:cNvPr id="6" name="Category pill 10"/>
          <p:cNvSpPr/>
          <p:nvPr/>
        </p:nvSpPr>
        <p:spPr>
          <a:xfrm>
            <a:off x="548640" y="4937760"/>
            <a:ext cx="178308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" name="Text 11"/>
          <p:cNvSpPr txBox="1"/>
          <p:nvPr/>
        </p:nvSpPr>
        <p:spPr>
          <a:xfrm>
            <a:off x="548640" y="4937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Men</a:t>
            </a:r>
            <a:endParaRPr lang="en-US" sz="1800" dirty="0"/>
          </a:p>
        </p:txBody>
      </p:sp>
      <p:sp>
        <p:nvSpPr>
          <p:cNvPr id="8" name="Category pill 12"/>
          <p:cNvSpPr/>
          <p:nvPr/>
        </p:nvSpPr>
        <p:spPr>
          <a:xfrm>
            <a:off x="2514600" y="4937760"/>
            <a:ext cx="178308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Text 13"/>
          <p:cNvSpPr txBox="1"/>
          <p:nvPr/>
        </p:nvSpPr>
        <p:spPr>
          <a:xfrm>
            <a:off x="2514600" y="4937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Women</a:t>
            </a:r>
            <a:endParaRPr lang="en-US" sz="1800" dirty="0"/>
          </a:p>
        </p:txBody>
      </p:sp>
      <p:sp>
        <p:nvSpPr>
          <p:cNvPr id="10" name="Category pill 14"/>
          <p:cNvSpPr/>
          <p:nvPr/>
        </p:nvSpPr>
        <p:spPr>
          <a:xfrm>
            <a:off x="4480560" y="4937760"/>
            <a:ext cx="1783080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15"/>
          <p:cNvSpPr txBox="1"/>
          <p:nvPr/>
        </p:nvSpPr>
        <p:spPr>
          <a:xfrm>
            <a:off x="4480560" y="4937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Children</a:t>
            </a:r>
            <a:endParaRPr lang="en-US" sz="1800" dirty="0"/>
          </a:p>
        </p:txBody>
      </p:sp>
      <p:sp>
        <p:nvSpPr>
          <p:cNvPr id="12" name="Problem card 16"/>
          <p:cNvSpPr/>
          <p:nvPr/>
        </p:nvSpPr>
        <p:spPr>
          <a:xfrm>
            <a:off x="7040880" y="1554480"/>
            <a:ext cx="4599432" cy="4297680"/>
          </a:xfrm>
          <a:prstGeom prst="roundRect">
            <a:avLst>
              <a:gd name="adj" fmla="val 2553"/>
            </a:avLst>
          </a:prstGeom>
          <a:solidFill>
            <a:schemeClr val="accent3"/>
          </a:solidFill>
          <a:ln/>
        </p:spPr>
      </p:sp>
      <p:sp>
        <p:nvSpPr>
          <p:cNvPr id="13" name="Icon circle 17"/>
          <p:cNvSpPr/>
          <p:nvPr/>
        </p:nvSpPr>
        <p:spPr>
          <a:xfrm>
            <a:off x="740664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18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839" y="2096719"/>
            <a:ext cx="378562" cy="378562"/>
          </a:xfrm>
          <a:prstGeom prst="rect">
            <a:avLst/>
          </a:prstGeom>
        </p:spPr>
      </p:pic>
      <p:sp>
        <p:nvSpPr>
          <p:cNvPr id="15" name="Text 19"/>
          <p:cNvSpPr txBox="1"/>
          <p:nvPr/>
        </p:nvSpPr>
        <p:spPr>
          <a:xfrm>
            <a:off x="7406640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problem it solves</a:t>
            </a:r>
            <a:endParaRPr lang="en-US" sz="2400" dirty="0"/>
          </a:p>
        </p:txBody>
      </p:sp>
      <p:sp>
        <p:nvSpPr>
          <p:cNvPr id="16" name="Text 20"/>
          <p:cNvSpPr txBox="1"/>
          <p:nvPr/>
        </p:nvSpPr>
        <p:spPr>
          <a:xfrm>
            <a:off x="7406640" y="34290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Customers may need to visit different shops to compare styles and prices.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HEXASHOP gives them one website to browse available items and submit orders.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also keeps product and order information organised for the administrator.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Who uses it and what it offers</a:t>
            </a:r>
            <a:endParaRPr lang="en-US" sz="3600" dirty="0"/>
          </a:p>
        </p:txBody>
      </p:sp>
      <p:sp>
        <p:nvSpPr>
          <p:cNvPr id="3" name="User card 21"/>
          <p:cNvSpPr/>
          <p:nvPr/>
        </p:nvSpPr>
        <p:spPr>
          <a:xfrm>
            <a:off x="548640" y="1417320"/>
            <a:ext cx="54406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Icon circle 2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23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1889150"/>
            <a:ext cx="336499" cy="336499"/>
          </a:xfrm>
          <a:prstGeom prst="rect">
            <a:avLst/>
          </a:prstGeom>
        </p:spPr>
      </p:pic>
      <p:sp>
        <p:nvSpPr>
          <p:cNvPr id="6" name="Text 24"/>
          <p:cNvSpPr txBox="1"/>
          <p:nvPr/>
        </p:nvSpPr>
        <p:spPr>
          <a:xfrm>
            <a:off x="1828800" y="1691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Customers</a:t>
            </a:r>
            <a:endParaRPr lang="en-US" sz="2600" dirty="0"/>
          </a:p>
        </p:txBody>
      </p:sp>
      <p:sp>
        <p:nvSpPr>
          <p:cNvPr id="7" name="Text 25"/>
          <p:cNvSpPr txBox="1"/>
          <p:nvPr/>
        </p:nvSpPr>
        <p:spPr>
          <a:xfrm>
            <a:off x="914400" y="2651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Browse products and view prices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items to the cart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Place orders</a:t>
            </a:r>
            <a:endParaRPr lang="en-US" sz="1800" dirty="0"/>
          </a:p>
        </p:txBody>
      </p:sp>
      <p:sp>
        <p:nvSpPr>
          <p:cNvPr id="8" name="User card 26"/>
          <p:cNvSpPr/>
          <p:nvPr/>
        </p:nvSpPr>
        <p:spPr>
          <a:xfrm>
            <a:off x="6172200" y="1417320"/>
            <a:ext cx="54406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Icon circle 27"/>
          <p:cNvSpPr/>
          <p:nvPr/>
        </p:nvSpPr>
        <p:spPr>
          <a:xfrm>
            <a:off x="6492240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 28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1889150"/>
            <a:ext cx="336499" cy="336499"/>
          </a:xfrm>
          <a:prstGeom prst="rect">
            <a:avLst/>
          </a:prstGeom>
        </p:spPr>
      </p:pic>
      <p:sp>
        <p:nvSpPr>
          <p:cNvPr id="11" name="Text 29"/>
          <p:cNvSpPr txBox="1"/>
          <p:nvPr/>
        </p:nvSpPr>
        <p:spPr>
          <a:xfrm>
            <a:off x="7452360" y="1691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Administrator</a:t>
            </a:r>
            <a:endParaRPr lang="en-US" sz="2600" dirty="0"/>
          </a:p>
        </p:txBody>
      </p:sp>
      <p:sp>
        <p:nvSpPr>
          <p:cNvPr id="12" name="Text 30"/>
          <p:cNvSpPr txBox="1"/>
          <p:nvPr/>
        </p:nvSpPr>
        <p:spPr>
          <a:xfrm>
            <a:off x="6537960" y="2651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Add, update, or remove products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Review and manage orders</a:t>
            </a:r>
            <a:endParaRPr lang="en-US" sz="1800" dirty="0"/>
          </a:p>
        </p:txBody>
      </p:sp>
      <p:sp>
        <p:nvSpPr>
          <p:cNvPr id="13" name="Text 31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4"/>
                </a:solidFill>
              </a:rPr>
              <a:t>CORE FEATURES</a:t>
            </a:r>
            <a:endParaRPr lang="en-US" sz="1400" dirty="0"/>
          </a:p>
        </p:txBody>
      </p:sp>
      <p:sp>
        <p:nvSpPr>
          <p:cNvPr id="14" name="Feature chip 32"/>
          <p:cNvSpPr/>
          <p:nvPr/>
        </p:nvSpPr>
        <p:spPr>
          <a:xfrm>
            <a:off x="548640" y="452628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5" name="Icon circle 33"/>
          <p:cNvSpPr/>
          <p:nvPr/>
        </p:nvSpPr>
        <p:spPr>
          <a:xfrm>
            <a:off x="777240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34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11" y="4907951"/>
            <a:ext cx="260787" cy="260787"/>
          </a:xfrm>
          <a:prstGeom prst="rect">
            <a:avLst/>
          </a:prstGeom>
        </p:spPr>
      </p:pic>
      <p:sp>
        <p:nvSpPr>
          <p:cNvPr id="17" name="Text 35"/>
          <p:cNvSpPr txBox="1"/>
          <p:nvPr/>
        </p:nvSpPr>
        <p:spPr>
          <a:xfrm>
            <a:off x="777240" y="5468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Browsing and search</a:t>
            </a:r>
            <a:endParaRPr lang="en-US" sz="1600" dirty="0"/>
          </a:p>
        </p:txBody>
      </p:sp>
      <p:sp>
        <p:nvSpPr>
          <p:cNvPr id="18" name="Feature chip 36"/>
          <p:cNvSpPr/>
          <p:nvPr/>
        </p:nvSpPr>
        <p:spPr>
          <a:xfrm>
            <a:off x="2788920" y="452628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9" name="Icon circle 37"/>
          <p:cNvSpPr/>
          <p:nvPr/>
        </p:nvSpPr>
        <p:spPr>
          <a:xfrm>
            <a:off x="3017520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38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0591" y="4907951"/>
            <a:ext cx="260787" cy="260787"/>
          </a:xfrm>
          <a:prstGeom prst="rect">
            <a:avLst/>
          </a:prstGeom>
        </p:spPr>
      </p:pic>
      <p:sp>
        <p:nvSpPr>
          <p:cNvPr id="21" name="Text 39"/>
          <p:cNvSpPr txBox="1"/>
          <p:nvPr/>
        </p:nvSpPr>
        <p:spPr>
          <a:xfrm>
            <a:off x="3017520" y="5468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Product details</a:t>
            </a:r>
            <a:endParaRPr lang="en-US" sz="1600" dirty="0"/>
          </a:p>
        </p:txBody>
      </p:sp>
      <p:sp>
        <p:nvSpPr>
          <p:cNvPr id="22" name="Feature chip 40"/>
          <p:cNvSpPr/>
          <p:nvPr/>
        </p:nvSpPr>
        <p:spPr>
          <a:xfrm>
            <a:off x="5029200" y="452628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23" name="Icon circle 41"/>
          <p:cNvSpPr/>
          <p:nvPr/>
        </p:nvSpPr>
        <p:spPr>
          <a:xfrm>
            <a:off x="5257800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 42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871" y="4907951"/>
            <a:ext cx="260787" cy="260787"/>
          </a:xfrm>
          <a:prstGeom prst="rect">
            <a:avLst/>
          </a:prstGeom>
        </p:spPr>
      </p:pic>
      <p:sp>
        <p:nvSpPr>
          <p:cNvPr id="25" name="Text 43"/>
          <p:cNvSpPr txBox="1"/>
          <p:nvPr/>
        </p:nvSpPr>
        <p:spPr>
          <a:xfrm>
            <a:off x="5257800" y="5468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Shopping cart</a:t>
            </a:r>
            <a:endParaRPr lang="en-US" sz="1600" dirty="0"/>
          </a:p>
        </p:txBody>
      </p:sp>
      <p:sp>
        <p:nvSpPr>
          <p:cNvPr id="26" name="Feature chip 44"/>
          <p:cNvSpPr/>
          <p:nvPr/>
        </p:nvSpPr>
        <p:spPr>
          <a:xfrm>
            <a:off x="7269480" y="452628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27" name="Icon circle 45"/>
          <p:cNvSpPr/>
          <p:nvPr/>
        </p:nvSpPr>
        <p:spPr>
          <a:xfrm>
            <a:off x="7498080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 46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1151" y="4907951"/>
            <a:ext cx="260787" cy="260787"/>
          </a:xfrm>
          <a:prstGeom prst="rect">
            <a:avLst/>
          </a:prstGeom>
        </p:spPr>
      </p:pic>
      <p:sp>
        <p:nvSpPr>
          <p:cNvPr id="29" name="Text 47"/>
          <p:cNvSpPr txBox="1"/>
          <p:nvPr/>
        </p:nvSpPr>
        <p:spPr>
          <a:xfrm>
            <a:off x="7498080" y="5468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Order placement</a:t>
            </a:r>
            <a:endParaRPr lang="en-US" sz="1600" dirty="0"/>
          </a:p>
        </p:txBody>
      </p:sp>
      <p:sp>
        <p:nvSpPr>
          <p:cNvPr id="30" name="Feature chip 48"/>
          <p:cNvSpPr/>
          <p:nvPr/>
        </p:nvSpPr>
        <p:spPr>
          <a:xfrm>
            <a:off x="9509760" y="452628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31" name="Icon circle 49"/>
          <p:cNvSpPr/>
          <p:nvPr/>
        </p:nvSpPr>
        <p:spPr>
          <a:xfrm>
            <a:off x="9738360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 5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431" y="4907951"/>
            <a:ext cx="260787" cy="260787"/>
          </a:xfrm>
          <a:prstGeom prst="rect">
            <a:avLst/>
          </a:prstGeom>
        </p:spPr>
      </p:pic>
      <p:sp>
        <p:nvSpPr>
          <p:cNvPr id="33" name="Text 51"/>
          <p:cNvSpPr txBox="1"/>
          <p:nvPr/>
        </p:nvSpPr>
        <p:spPr>
          <a:xfrm>
            <a:off x="9738360" y="5468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Admin area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architecture: three parts</a:t>
            </a:r>
            <a:endParaRPr lang="en-US" sz="3600" dirty="0"/>
          </a:p>
        </p:txBody>
      </p:sp>
      <p:sp>
        <p:nvSpPr>
          <p:cNvPr id="3" name="Layer box 52"/>
          <p:cNvSpPr/>
          <p:nvPr/>
        </p:nvSpPr>
        <p:spPr>
          <a:xfrm>
            <a:off x="548640" y="141732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pic>
        <p:nvPicPr>
          <p:cNvPr id="4" name="Layer icon 53" descr="lay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64208"/>
            <a:ext cx="420624" cy="420624"/>
          </a:xfrm>
          <a:prstGeom prst="rect">
            <a:avLst/>
          </a:prstGeom>
        </p:spPr>
      </p:pic>
      <p:sp>
        <p:nvSpPr>
          <p:cNvPr id="5" name="Text 54"/>
          <p:cNvSpPr txBox="1"/>
          <p:nvPr/>
        </p:nvSpPr>
        <p:spPr>
          <a:xfrm>
            <a:off x="1508760" y="15087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Customer / Administrator</a:t>
            </a:r>
            <a:endParaRPr lang="en-US" sz="2000" dirty="0"/>
          </a:p>
        </p:txBody>
      </p:sp>
      <p:sp>
        <p:nvSpPr>
          <p:cNvPr id="6" name="Text 55"/>
          <p:cNvSpPr txBox="1"/>
          <p:nvPr/>
        </p:nvSpPr>
        <p:spPr>
          <a:xfrm>
            <a:off x="1508760" y="18928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Opens the website and chooses an action</a:t>
            </a:r>
            <a:endParaRPr lang="en-US" sz="1400" dirty="0"/>
          </a:p>
        </p:txBody>
      </p:sp>
      <p:sp>
        <p:nvSpPr>
          <p:cNvPr id="7" name="Arrow 56"/>
          <p:cNvSpPr/>
          <p:nvPr/>
        </p:nvSpPr>
        <p:spPr>
          <a:xfrm>
            <a:off x="3749040" y="2359152"/>
            <a:ext cx="274320" cy="219456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8" name="Layer box 57"/>
          <p:cNvSpPr/>
          <p:nvPr/>
        </p:nvSpPr>
        <p:spPr>
          <a:xfrm>
            <a:off x="548640" y="260604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pic>
        <p:nvPicPr>
          <p:cNvPr id="9" name="Layer icon 58" descr="lay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52928"/>
            <a:ext cx="420624" cy="420624"/>
          </a:xfrm>
          <a:prstGeom prst="rect">
            <a:avLst/>
          </a:prstGeom>
        </p:spPr>
      </p:pic>
      <p:sp>
        <p:nvSpPr>
          <p:cNvPr id="10" name="Text 59"/>
          <p:cNvSpPr txBox="1"/>
          <p:nvPr/>
        </p:nvSpPr>
        <p:spPr>
          <a:xfrm>
            <a:off x="1508760" y="26974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Frontend: HTML, CSS, JavaScript</a:t>
            </a:r>
            <a:endParaRPr lang="en-US" sz="2000" dirty="0"/>
          </a:p>
        </p:txBody>
      </p:sp>
      <p:sp>
        <p:nvSpPr>
          <p:cNvPr id="11" name="Text 60"/>
          <p:cNvSpPr txBox="1"/>
          <p:nvPr/>
        </p:nvSpPr>
        <p:spPr>
          <a:xfrm>
            <a:off x="1508760" y="30815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Product pages · Search · Cart · Admin screens</a:t>
            </a:r>
            <a:endParaRPr lang="en-US" sz="1400" dirty="0"/>
          </a:p>
        </p:txBody>
      </p:sp>
      <p:sp>
        <p:nvSpPr>
          <p:cNvPr id="12" name="Arrow 61"/>
          <p:cNvSpPr/>
          <p:nvPr/>
        </p:nvSpPr>
        <p:spPr>
          <a:xfrm>
            <a:off x="3749040" y="3547872"/>
            <a:ext cx="274320" cy="219456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3" name="Layer box 62"/>
          <p:cNvSpPr/>
          <p:nvPr/>
        </p:nvSpPr>
        <p:spPr>
          <a:xfrm>
            <a:off x="548640" y="379476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pic>
        <p:nvPicPr>
          <p:cNvPr id="14" name="Layer icon 63" descr="lay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41648"/>
            <a:ext cx="420624" cy="420624"/>
          </a:xfrm>
          <a:prstGeom prst="rect">
            <a:avLst/>
          </a:prstGeom>
        </p:spPr>
      </p:pic>
      <p:sp>
        <p:nvSpPr>
          <p:cNvPr id="15" name="Text 64"/>
          <p:cNvSpPr txBox="1"/>
          <p:nvPr/>
        </p:nvSpPr>
        <p:spPr>
          <a:xfrm>
            <a:off x="1508760" y="3886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Backend: PHP</a:t>
            </a:r>
            <a:endParaRPr lang="en-US" sz="2000" dirty="0"/>
          </a:p>
        </p:txBody>
      </p:sp>
      <p:sp>
        <p:nvSpPr>
          <p:cNvPr id="16" name="Text 65"/>
          <p:cNvSpPr txBox="1"/>
          <p:nvPr/>
        </p:nvSpPr>
        <p:spPr>
          <a:xfrm>
            <a:off x="1508760" y="42702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Business rules · Validation · Cart and order processing · Admin access</a:t>
            </a:r>
            <a:endParaRPr lang="en-US" sz="1400" dirty="0"/>
          </a:p>
        </p:txBody>
      </p:sp>
      <p:sp>
        <p:nvSpPr>
          <p:cNvPr id="17" name="Arrow 66"/>
          <p:cNvSpPr/>
          <p:nvPr/>
        </p:nvSpPr>
        <p:spPr>
          <a:xfrm>
            <a:off x="3749040" y="4736592"/>
            <a:ext cx="274320" cy="219456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box 67"/>
          <p:cNvSpPr/>
          <p:nvPr/>
        </p:nvSpPr>
        <p:spPr>
          <a:xfrm>
            <a:off x="548640" y="498348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pic>
        <p:nvPicPr>
          <p:cNvPr id="19" name="Layer icon 68" descr="lay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230368"/>
            <a:ext cx="420624" cy="420624"/>
          </a:xfrm>
          <a:prstGeom prst="rect">
            <a:avLst/>
          </a:prstGeom>
        </p:spPr>
      </p:pic>
      <p:sp>
        <p:nvSpPr>
          <p:cNvPr id="20" name="Text 69"/>
          <p:cNvSpPr txBox="1"/>
          <p:nvPr/>
        </p:nvSpPr>
        <p:spPr>
          <a:xfrm>
            <a:off x="1508760" y="50749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Database: MySQL</a:t>
            </a:r>
            <a:endParaRPr lang="en-US" sz="2000" dirty="0"/>
          </a:p>
        </p:txBody>
      </p:sp>
      <p:sp>
        <p:nvSpPr>
          <p:cNvPr id="21" name="Text 70"/>
          <p:cNvSpPr txBox="1"/>
          <p:nvPr/>
        </p:nvSpPr>
        <p:spPr>
          <a:xfrm>
            <a:off x="1508760" y="54589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Users · Products · Orders · Order items · Stock</a:t>
            </a:r>
            <a:endParaRPr lang="en-US" sz="1400" dirty="0"/>
          </a:p>
        </p:txBody>
      </p:sp>
      <p:sp>
        <p:nvSpPr>
          <p:cNvPr id="22" name="Text 71"/>
          <p:cNvSpPr txBox="1"/>
          <p:nvPr/>
        </p:nvSpPr>
        <p:spPr>
          <a:xfrm>
            <a:off x="4160520" y="3547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HTTP request / response</a:t>
            </a:r>
            <a:endParaRPr lang="en-US" sz="1200" dirty="0"/>
          </a:p>
        </p:txBody>
      </p:sp>
      <p:sp>
        <p:nvSpPr>
          <p:cNvPr id="23" name="Flow card 72"/>
          <p:cNvSpPr/>
          <p:nvPr/>
        </p:nvSpPr>
        <p:spPr>
          <a:xfrm>
            <a:off x="7589520" y="1417320"/>
            <a:ext cx="4050792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Text 73"/>
          <p:cNvSpPr txBox="1"/>
          <p:nvPr/>
        </p:nvSpPr>
        <p:spPr>
          <a:xfrm>
            <a:off x="7863840" y="1572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 flow</a:t>
            </a:r>
            <a:endParaRPr lang="en-US" sz="2200" dirty="0"/>
          </a:p>
        </p:txBody>
      </p:sp>
      <p:sp>
        <p:nvSpPr>
          <p:cNvPr id="25" name="Step dot 74"/>
          <p:cNvSpPr/>
          <p:nvPr/>
        </p:nvSpPr>
        <p:spPr>
          <a:xfrm>
            <a:off x="7863840" y="21214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75"/>
          <p:cNvSpPr txBox="1"/>
          <p:nvPr/>
        </p:nvSpPr>
        <p:spPr>
          <a:xfrm>
            <a:off x="78638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Text 76"/>
          <p:cNvSpPr txBox="1"/>
          <p:nvPr/>
        </p:nvSpPr>
        <p:spPr>
          <a:xfrm>
            <a:off x="841248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User action</a:t>
            </a:r>
            <a:endParaRPr lang="en-US" sz="1600" dirty="0"/>
          </a:p>
        </p:txBody>
      </p:sp>
      <p:sp>
        <p:nvSpPr>
          <p:cNvPr id="28" name="Step dot 77"/>
          <p:cNvSpPr/>
          <p:nvPr/>
        </p:nvSpPr>
        <p:spPr>
          <a:xfrm>
            <a:off x="7863840" y="25968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78"/>
          <p:cNvSpPr txBox="1"/>
          <p:nvPr/>
        </p:nvSpPr>
        <p:spPr>
          <a:xfrm>
            <a:off x="786384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Text 79"/>
          <p:cNvSpPr txBox="1"/>
          <p:nvPr/>
        </p:nvSpPr>
        <p:spPr>
          <a:xfrm>
            <a:off x="8412480" y="2596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Frontend</a:t>
            </a:r>
            <a:endParaRPr lang="en-US" sz="1600" dirty="0"/>
          </a:p>
        </p:txBody>
      </p:sp>
      <p:sp>
        <p:nvSpPr>
          <p:cNvPr id="31" name="Step dot 80"/>
          <p:cNvSpPr/>
          <p:nvPr/>
        </p:nvSpPr>
        <p:spPr>
          <a:xfrm>
            <a:off x="7863840" y="30723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81"/>
          <p:cNvSpPr txBox="1"/>
          <p:nvPr/>
        </p:nvSpPr>
        <p:spPr>
          <a:xfrm>
            <a:off x="786384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82"/>
          <p:cNvSpPr txBox="1"/>
          <p:nvPr/>
        </p:nvSpPr>
        <p:spPr>
          <a:xfrm>
            <a:off x="8412480" y="30723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PHP backend</a:t>
            </a:r>
            <a:endParaRPr lang="en-US" sz="1600" dirty="0"/>
          </a:p>
        </p:txBody>
      </p:sp>
      <p:sp>
        <p:nvSpPr>
          <p:cNvPr id="34" name="Step dot 83"/>
          <p:cNvSpPr/>
          <p:nvPr/>
        </p:nvSpPr>
        <p:spPr>
          <a:xfrm>
            <a:off x="7863840" y="35478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84"/>
          <p:cNvSpPr txBox="1"/>
          <p:nvPr/>
        </p:nvSpPr>
        <p:spPr>
          <a:xfrm>
            <a:off x="78638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85"/>
          <p:cNvSpPr txBox="1"/>
          <p:nvPr/>
        </p:nvSpPr>
        <p:spPr>
          <a:xfrm>
            <a:off x="8412480" y="3547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MySQL database</a:t>
            </a:r>
            <a:endParaRPr lang="en-US" sz="1600" dirty="0"/>
          </a:p>
        </p:txBody>
      </p:sp>
      <p:sp>
        <p:nvSpPr>
          <p:cNvPr id="37" name="Step dot 86"/>
          <p:cNvSpPr/>
          <p:nvPr/>
        </p:nvSpPr>
        <p:spPr>
          <a:xfrm>
            <a:off x="7863840" y="40233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87"/>
          <p:cNvSpPr txBox="1"/>
          <p:nvPr/>
        </p:nvSpPr>
        <p:spPr>
          <a:xfrm>
            <a:off x="78638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88"/>
          <p:cNvSpPr txBox="1"/>
          <p:nvPr/>
        </p:nvSpPr>
        <p:spPr>
          <a:xfrm>
            <a:off x="841248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Result back to the frontend</a:t>
            </a:r>
            <a:endParaRPr lang="en-US" sz="1600" dirty="0"/>
          </a:p>
        </p:txBody>
      </p:sp>
      <p:sp>
        <p:nvSpPr>
          <p:cNvPr id="40" name="External card 89"/>
          <p:cNvSpPr/>
          <p:nvPr/>
        </p:nvSpPr>
        <p:spPr>
          <a:xfrm>
            <a:off x="7589520" y="4754880"/>
            <a:ext cx="4050792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41" name="Text 90"/>
          <p:cNvSpPr txBox="1"/>
          <p:nvPr/>
        </p:nvSpPr>
        <p:spPr>
          <a:xfrm>
            <a:off x="7863840" y="4846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External services: </a:t>
            </a:r>
            <a:r>
              <a:rPr lang="en-US" sz="1400" dirty="0">
                <a:solidFill>
                  <a:schemeClr val="tx1"/>
                </a:solidFill>
              </a:rPr>
              <a:t>none needed for version 1. A payment gateway can be added later.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Database plan: four tables</a:t>
            </a:r>
            <a:endParaRPr lang="en-US" sz="3600" dirty="0"/>
          </a:p>
        </p:txBody>
      </p:sp>
      <p:sp>
        <p:nvSpPr>
          <p:cNvPr id="3" name="Entity card 91"/>
          <p:cNvSpPr/>
          <p:nvPr/>
        </p:nvSpPr>
        <p:spPr>
          <a:xfrm>
            <a:off x="548640" y="1371600"/>
            <a:ext cx="2697480" cy="36118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Entity header 92"/>
          <p:cNvSpPr/>
          <p:nvPr/>
        </p:nvSpPr>
        <p:spPr>
          <a:xfrm>
            <a:off x="548640" y="1371600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5" name="Text 93"/>
          <p:cNvSpPr txBox="1"/>
          <p:nvPr/>
        </p:nvSpPr>
        <p:spPr>
          <a:xfrm>
            <a:off x="731520" y="1444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Users</a:t>
            </a:r>
            <a:endParaRPr lang="en-US" sz="2000" dirty="0"/>
          </a:p>
        </p:txBody>
      </p:sp>
      <p:sp>
        <p:nvSpPr>
          <p:cNvPr id="6" name="Text 94"/>
          <p:cNvSpPr txBox="1"/>
          <p:nvPr/>
        </p:nvSpPr>
        <p:spPr>
          <a:xfrm>
            <a:off x="731520" y="1847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Customer and admin accounts</a:t>
            </a:r>
            <a:endParaRPr lang="en-US" sz="1400" dirty="0"/>
          </a:p>
        </p:txBody>
      </p:sp>
      <p:sp>
        <p:nvSpPr>
          <p:cNvPr id="7" name="Text 95"/>
          <p:cNvSpPr txBox="1"/>
          <p:nvPr/>
        </p:nvSpPr>
        <p:spPr>
          <a:xfrm>
            <a:off x="777240" y="24231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user_id</a:t>
            </a:r>
            <a:r>
              <a:rPr lang="en-US" sz="1500" b="1" dirty="0">
                <a:solidFill>
                  <a:schemeClr val="accent1"/>
                </a:solidFill>
              </a:rPr>
              <a:t>  PK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full_name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email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password_hash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role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created_at</a:t>
            </a:r>
            <a:endParaRPr lang="en-US" sz="1500" dirty="0"/>
          </a:p>
        </p:txBody>
      </p:sp>
      <p:sp>
        <p:nvSpPr>
          <p:cNvPr id="8" name="Entity card 96"/>
          <p:cNvSpPr/>
          <p:nvPr/>
        </p:nvSpPr>
        <p:spPr>
          <a:xfrm>
            <a:off x="3364992" y="1371600"/>
            <a:ext cx="2697480" cy="36118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9" name="Entity header 97"/>
          <p:cNvSpPr/>
          <p:nvPr/>
        </p:nvSpPr>
        <p:spPr>
          <a:xfrm>
            <a:off x="3364992" y="1371600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0" name="Text 98"/>
          <p:cNvSpPr txBox="1"/>
          <p:nvPr/>
        </p:nvSpPr>
        <p:spPr>
          <a:xfrm>
            <a:off x="3547872" y="1444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Products</a:t>
            </a:r>
            <a:endParaRPr lang="en-US" sz="2000" dirty="0"/>
          </a:p>
        </p:txBody>
      </p:sp>
      <p:sp>
        <p:nvSpPr>
          <p:cNvPr id="11" name="Text 99"/>
          <p:cNvSpPr txBox="1"/>
          <p:nvPr/>
        </p:nvSpPr>
        <p:spPr>
          <a:xfrm>
            <a:off x="3547872" y="1847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Clothing details</a:t>
            </a:r>
            <a:endParaRPr lang="en-US" sz="1400" dirty="0"/>
          </a:p>
        </p:txBody>
      </p:sp>
      <p:sp>
        <p:nvSpPr>
          <p:cNvPr id="12" name="Text 100"/>
          <p:cNvSpPr txBox="1"/>
          <p:nvPr/>
        </p:nvSpPr>
        <p:spPr>
          <a:xfrm>
            <a:off x="3593592" y="24231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product_id</a:t>
            </a:r>
            <a:r>
              <a:rPr lang="en-US" sz="1500" b="1" dirty="0">
                <a:solidFill>
                  <a:schemeClr val="accent1"/>
                </a:solidFill>
              </a:rPr>
              <a:t>  PK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name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description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category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size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price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stock_quantity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image_url</a:t>
            </a:r>
            <a:endParaRPr lang="en-US" sz="1500" dirty="0"/>
          </a:p>
        </p:txBody>
      </p:sp>
      <p:sp>
        <p:nvSpPr>
          <p:cNvPr id="13" name="Entity card 101"/>
          <p:cNvSpPr/>
          <p:nvPr/>
        </p:nvSpPr>
        <p:spPr>
          <a:xfrm>
            <a:off x="6181344" y="1371600"/>
            <a:ext cx="2697480" cy="36118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4" name="Entity header 102"/>
          <p:cNvSpPr/>
          <p:nvPr/>
        </p:nvSpPr>
        <p:spPr>
          <a:xfrm>
            <a:off x="6181344" y="1371600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5" name="Text 103"/>
          <p:cNvSpPr txBox="1"/>
          <p:nvPr/>
        </p:nvSpPr>
        <p:spPr>
          <a:xfrm>
            <a:off x="6364224" y="1444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Orders</a:t>
            </a:r>
            <a:endParaRPr lang="en-US" sz="2000" dirty="0"/>
          </a:p>
        </p:txBody>
      </p:sp>
      <p:sp>
        <p:nvSpPr>
          <p:cNvPr id="16" name="Text 104"/>
          <p:cNvSpPr txBox="1"/>
          <p:nvPr/>
        </p:nvSpPr>
        <p:spPr>
          <a:xfrm>
            <a:off x="6364224" y="1847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belongs to one user</a:t>
            </a:r>
            <a:endParaRPr lang="en-US" sz="1400" dirty="0"/>
          </a:p>
        </p:txBody>
      </p:sp>
      <p:sp>
        <p:nvSpPr>
          <p:cNvPr id="17" name="Text 105"/>
          <p:cNvSpPr txBox="1"/>
          <p:nvPr/>
        </p:nvSpPr>
        <p:spPr>
          <a:xfrm>
            <a:off x="6409944" y="24231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order_id</a:t>
            </a:r>
            <a:r>
              <a:rPr lang="en-US" sz="1500" b="1" dirty="0">
                <a:solidFill>
                  <a:schemeClr val="accent1"/>
                </a:solidFill>
              </a:rPr>
              <a:t>  PK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user_id</a:t>
            </a:r>
            <a:r>
              <a:rPr lang="en-US" sz="1500" b="1" dirty="0">
                <a:solidFill>
                  <a:schemeClr val="accent2"/>
                </a:solidFill>
              </a:rPr>
              <a:t>  FK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order_date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total_amount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status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delivery_address</a:t>
            </a:r>
            <a:endParaRPr lang="en-US" sz="1500" dirty="0"/>
          </a:p>
        </p:txBody>
      </p:sp>
      <p:sp>
        <p:nvSpPr>
          <p:cNvPr id="18" name="Entity card 106"/>
          <p:cNvSpPr/>
          <p:nvPr/>
        </p:nvSpPr>
        <p:spPr>
          <a:xfrm>
            <a:off x="8997696" y="1371600"/>
            <a:ext cx="2697480" cy="36118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9" name="Entity header 107"/>
          <p:cNvSpPr/>
          <p:nvPr/>
        </p:nvSpPr>
        <p:spPr>
          <a:xfrm>
            <a:off x="8997696" y="1371600"/>
            <a:ext cx="26974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0" name="Text 108"/>
          <p:cNvSpPr txBox="1"/>
          <p:nvPr/>
        </p:nvSpPr>
        <p:spPr>
          <a:xfrm>
            <a:off x="9180576" y="1444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Order_Items</a:t>
            </a:r>
            <a:endParaRPr lang="en-US" sz="2000" dirty="0"/>
          </a:p>
        </p:txBody>
      </p:sp>
      <p:sp>
        <p:nvSpPr>
          <p:cNvPr id="21" name="Text 109"/>
          <p:cNvSpPr txBox="1"/>
          <p:nvPr/>
        </p:nvSpPr>
        <p:spPr>
          <a:xfrm>
            <a:off x="9180576" y="1847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Links orders to products</a:t>
            </a:r>
            <a:endParaRPr lang="en-US" sz="1400" dirty="0"/>
          </a:p>
        </p:txBody>
      </p:sp>
      <p:sp>
        <p:nvSpPr>
          <p:cNvPr id="22" name="Text 110"/>
          <p:cNvSpPr txBox="1"/>
          <p:nvPr/>
        </p:nvSpPr>
        <p:spPr>
          <a:xfrm>
            <a:off x="9226296" y="24231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order_item_id</a:t>
            </a:r>
            <a:r>
              <a:rPr lang="en-US" sz="1500" b="1" dirty="0">
                <a:solidFill>
                  <a:schemeClr val="accent1"/>
                </a:solidFill>
              </a:rPr>
              <a:t>  PK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order_id</a:t>
            </a:r>
            <a:r>
              <a:rPr lang="en-US" sz="1500" b="1" dirty="0">
                <a:solidFill>
                  <a:schemeClr val="accent2"/>
                </a:solidFill>
              </a:rPr>
              <a:t>  FK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product_id</a:t>
            </a:r>
            <a:r>
              <a:rPr lang="en-US" sz="1500" b="1" dirty="0">
                <a:solidFill>
                  <a:schemeClr val="accent2"/>
                </a:solidFill>
              </a:rPr>
              <a:t>  FK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quantity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unit_price</a:t>
            </a:r>
            <a:endParaRPr lang="en-US" sz="1500" dirty="0"/>
          </a:p>
        </p:txBody>
      </p:sp>
      <p:sp>
        <p:nvSpPr>
          <p:cNvPr id="23" name="Relationship chip 111"/>
          <p:cNvSpPr/>
          <p:nvPr/>
        </p:nvSpPr>
        <p:spPr>
          <a:xfrm>
            <a:off x="548640" y="5212080"/>
            <a:ext cx="361188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</p:sp>
      <p:sp>
        <p:nvSpPr>
          <p:cNvPr id="24" name="Text 112"/>
          <p:cNvSpPr txBox="1"/>
          <p:nvPr/>
        </p:nvSpPr>
        <p:spPr>
          <a:xfrm>
            <a:off x="73152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Users  1 — many  Orders</a:t>
            </a:r>
            <a:endParaRPr lang="en-US" sz="1600" dirty="0"/>
          </a:p>
        </p:txBody>
      </p:sp>
      <p:sp>
        <p:nvSpPr>
          <p:cNvPr id="25" name="Relationship chip 113"/>
          <p:cNvSpPr/>
          <p:nvPr/>
        </p:nvSpPr>
        <p:spPr>
          <a:xfrm>
            <a:off x="4297680" y="5212080"/>
            <a:ext cx="361188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</p:sp>
      <p:sp>
        <p:nvSpPr>
          <p:cNvPr id="26" name="Text 114"/>
          <p:cNvSpPr txBox="1"/>
          <p:nvPr/>
        </p:nvSpPr>
        <p:spPr>
          <a:xfrm>
            <a:off x="448056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Orders  1 — many  Order_Items</a:t>
            </a:r>
            <a:endParaRPr lang="en-US" sz="1600" dirty="0"/>
          </a:p>
        </p:txBody>
      </p:sp>
      <p:sp>
        <p:nvSpPr>
          <p:cNvPr id="27" name="Relationship chip 115"/>
          <p:cNvSpPr/>
          <p:nvPr/>
        </p:nvSpPr>
        <p:spPr>
          <a:xfrm>
            <a:off x="8046720" y="5212080"/>
            <a:ext cx="361188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</p:sp>
      <p:sp>
        <p:nvSpPr>
          <p:cNvPr id="28" name="Text 116"/>
          <p:cNvSpPr txBox="1"/>
          <p:nvPr/>
        </p:nvSpPr>
        <p:spPr>
          <a:xfrm>
            <a:off x="822960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Products  1 — many  Order_Items</a:t>
            </a:r>
            <a:endParaRPr lang="en-US" sz="1600" dirty="0"/>
          </a:p>
        </p:txBody>
      </p:sp>
      <p:sp>
        <p:nvSpPr>
          <p:cNvPr id="29" name="Text 117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PK = Primary Key (unique ID)    ·    FK = Foreign Key (link to another table)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Sprint plan: a working first version</a:t>
            </a:r>
            <a:endParaRPr lang="en-US" sz="3600" dirty="0"/>
          </a:p>
        </p:txBody>
      </p:sp>
      <p:sp>
        <p:nvSpPr>
          <p:cNvPr id="3" name="Goal card 118"/>
          <p:cNvSpPr/>
          <p:nvPr/>
        </p:nvSpPr>
        <p:spPr>
          <a:xfrm>
            <a:off x="548640" y="1417320"/>
            <a:ext cx="11091672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4" name="Icon circle 119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12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2163470"/>
            <a:ext cx="336499" cy="336499"/>
          </a:xfrm>
          <a:prstGeom prst="rect">
            <a:avLst/>
          </a:prstGeom>
        </p:spPr>
      </p:pic>
      <p:sp>
        <p:nvSpPr>
          <p:cNvPr id="6" name="Text 121"/>
          <p:cNvSpPr txBox="1"/>
          <p:nvPr/>
        </p:nvSpPr>
        <p:spPr>
          <a:xfrm>
            <a:off x="20116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</a:rPr>
              <a:t>SPRINT GOAL</a:t>
            </a:r>
            <a:endParaRPr lang="en-US" sz="1400" dirty="0"/>
          </a:p>
        </p:txBody>
      </p:sp>
      <p:sp>
        <p:nvSpPr>
          <p:cNvPr id="7" name="Text 122"/>
          <p:cNvSpPr txBox="1"/>
          <p:nvPr/>
        </p:nvSpPr>
        <p:spPr>
          <a:xfrm>
            <a:off x="201168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Customers can browse clothing, add items to a cart, and place an order. The administrator can manage products and orders.</a:t>
            </a:r>
            <a:endParaRPr lang="en-US" sz="2200" dirty="0"/>
          </a:p>
        </p:txBody>
      </p:sp>
      <p:sp>
        <p:nvSpPr>
          <p:cNvPr id="8" name="Stat card 123"/>
          <p:cNvSpPr/>
          <p:nvPr/>
        </p:nvSpPr>
        <p:spPr>
          <a:xfrm>
            <a:off x="548640" y="352044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Text 124"/>
          <p:cNvSpPr txBox="1"/>
          <p:nvPr/>
        </p:nvSpPr>
        <p:spPr>
          <a:xfrm>
            <a:off x="868680" y="3749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 weeks</a:t>
            </a:r>
            <a:endParaRPr lang="en-US" sz="4800" dirty="0"/>
          </a:p>
        </p:txBody>
      </p:sp>
      <p:sp>
        <p:nvSpPr>
          <p:cNvPr id="10" name="Text 125"/>
          <p:cNvSpPr txBox="1"/>
          <p:nvPr/>
        </p:nvSpPr>
        <p:spPr>
          <a:xfrm>
            <a:off x="86868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Estimated sprint length</a:t>
            </a:r>
            <a:endParaRPr lang="en-US" sz="1600" dirty="0"/>
          </a:p>
        </p:txBody>
      </p:sp>
      <p:sp>
        <p:nvSpPr>
          <p:cNvPr id="11" name="Stat card 126"/>
          <p:cNvSpPr/>
          <p:nvPr/>
        </p:nvSpPr>
        <p:spPr>
          <a:xfrm>
            <a:off x="4288536" y="352044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27"/>
          <p:cNvSpPr txBox="1"/>
          <p:nvPr/>
        </p:nvSpPr>
        <p:spPr>
          <a:xfrm>
            <a:off x="4608576" y="3749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13</a:t>
            </a:r>
            <a:endParaRPr lang="en-US" sz="4800" dirty="0"/>
          </a:p>
        </p:txBody>
      </p:sp>
      <p:sp>
        <p:nvSpPr>
          <p:cNvPr id="13" name="Text 128"/>
          <p:cNvSpPr txBox="1"/>
          <p:nvPr/>
        </p:nvSpPr>
        <p:spPr>
          <a:xfrm>
            <a:off x="4608576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Tasks planned</a:t>
            </a:r>
            <a:endParaRPr lang="en-US" sz="1600" dirty="0"/>
          </a:p>
        </p:txBody>
      </p:sp>
      <p:sp>
        <p:nvSpPr>
          <p:cNvPr id="14" name="Stat card 129"/>
          <p:cNvSpPr/>
          <p:nvPr/>
        </p:nvSpPr>
        <p:spPr>
          <a:xfrm>
            <a:off x="8028432" y="352044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Text 130"/>
          <p:cNvSpPr txBox="1"/>
          <p:nvPr/>
        </p:nvSpPr>
        <p:spPr>
          <a:xfrm>
            <a:off x="8348472" y="3749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42 hours</a:t>
            </a:r>
            <a:endParaRPr lang="en-US" sz="4800" dirty="0"/>
          </a:p>
        </p:txBody>
      </p:sp>
      <p:sp>
        <p:nvSpPr>
          <p:cNvPr id="16" name="Text 131"/>
          <p:cNvSpPr txBox="1"/>
          <p:nvPr/>
        </p:nvSpPr>
        <p:spPr>
          <a:xfrm>
            <a:off x="8348472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Total estimated time</a:t>
            </a:r>
            <a:endParaRPr lang="en-US" sz="1600" dirty="0"/>
          </a:p>
        </p:txBody>
      </p:sp>
      <p:sp>
        <p:nvSpPr>
          <p:cNvPr id="17" name="Text 132"/>
          <p:cNvSpPr txBox="1"/>
          <p:nvPr/>
        </p:nvSpPr>
        <p:spPr>
          <a:xfrm>
            <a:off x="548640" y="5715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Times are estimates and can be adjusted once the team agrees on the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Sprint tasks (1 of 2)</a:t>
            </a:r>
            <a:endParaRPr lang="en-US" sz="3600" dirty="0"/>
          </a:p>
        </p:txBody>
      </p:sp>
      <p:graphicFrame>
        <p:nvGraphicFramePr>
          <p:cNvPr id="8" name="Task 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596742"/>
              </p:ext>
            </p:extLst>
          </p:nvPr>
        </p:nvGraphicFramePr>
        <p:xfrm>
          <a:off x="548640" y="1417320"/>
          <a:ext cx="11091672" cy="43891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Confirm requirements and user flow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 (Project Lead)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 GitHub repository and README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hour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Design homepage and product listing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Dianee (Frontend)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Build responsive navigation and category pages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 MySQL database and tables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Dianee (Database)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Connect PHP backend to MySQL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 (Backend)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Build product listing and product details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Dianee+ Regis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Sprint tasks (2 of 2)</a:t>
            </a:r>
            <a:endParaRPr lang="en-US" sz="3600" dirty="0"/>
          </a:p>
        </p:txBody>
      </p:sp>
      <p:graphicFrame>
        <p:nvGraphicFramePr>
          <p:cNvPr id="9" name="Task 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8404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Implement shopping cart and quantity updates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Implement order placement and order records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 + Dianee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Build admin product management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Dianee + Regis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Build admin order review and status updates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Dianee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12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 core flows and fix bugs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All; Dianee coordinates QA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13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Review, update README, and prepare demo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hours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i="1" dirty="0">
                          <a:solidFill>
                            <a:schemeClr val="accent4"/>
                          </a:solidFill>
                        </a:rPr>
                        <a:t>Not started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Team roles</a:t>
            </a:r>
            <a:endParaRPr lang="en-US" sz="3600" dirty="0"/>
          </a:p>
        </p:txBody>
      </p:sp>
      <p:sp>
        <p:nvSpPr>
          <p:cNvPr id="3" name="Team card 135"/>
          <p:cNvSpPr/>
          <p:nvPr/>
        </p:nvSpPr>
        <p:spPr>
          <a:xfrm>
            <a:off x="548640" y="1417320"/>
            <a:ext cx="361188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Avatar 136"/>
          <p:cNvSpPr/>
          <p:nvPr/>
        </p:nvSpPr>
        <p:spPr>
          <a:xfrm>
            <a:off x="86868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137"/>
          <p:cNvSpPr txBox="1"/>
          <p:nvPr/>
        </p:nvSpPr>
        <p:spPr>
          <a:xfrm>
            <a:off x="86868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R</a:t>
            </a:r>
            <a:endParaRPr lang="en-US" sz="3200" dirty="0"/>
          </a:p>
        </p:txBody>
      </p:sp>
      <p:sp>
        <p:nvSpPr>
          <p:cNvPr id="6" name="Text 138"/>
          <p:cNvSpPr txBox="1"/>
          <p:nvPr/>
        </p:nvSpPr>
        <p:spPr>
          <a:xfrm>
            <a:off x="192024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Regis</a:t>
            </a:r>
            <a:endParaRPr lang="en-US" sz="2600" dirty="0"/>
          </a:p>
        </p:txBody>
      </p:sp>
      <p:sp>
        <p:nvSpPr>
          <p:cNvPr id="7" name="Text 139"/>
          <p:cNvSpPr txBox="1"/>
          <p:nvPr/>
        </p:nvSpPr>
        <p:spPr>
          <a:xfrm>
            <a:off x="19202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Project Lead / Backend Developer</a:t>
            </a:r>
            <a:endParaRPr lang="en-US" sz="1400" dirty="0"/>
          </a:p>
        </p:txBody>
      </p:sp>
      <p:sp>
        <p:nvSpPr>
          <p:cNvPr id="8" name="Text 140"/>
          <p:cNvSpPr txBox="1"/>
          <p:nvPr/>
        </p:nvSpPr>
        <p:spPr>
          <a:xfrm>
            <a:off x="868680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Coordinates the work, confirms requirements, maintains the PHP backend, and connects pages to the database.</a:t>
            </a:r>
            <a:endParaRPr lang="en-US" sz="1600" dirty="0"/>
          </a:p>
        </p:txBody>
      </p:sp>
      <p:sp>
        <p:nvSpPr>
          <p:cNvPr id="9" name="Team card 141"/>
          <p:cNvSpPr/>
          <p:nvPr/>
        </p:nvSpPr>
        <p:spPr>
          <a:xfrm>
            <a:off x="4288536" y="1417320"/>
            <a:ext cx="361188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0" name="Avatar 142"/>
          <p:cNvSpPr/>
          <p:nvPr/>
        </p:nvSpPr>
        <p:spPr>
          <a:xfrm>
            <a:off x="4608576" y="17373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143"/>
          <p:cNvSpPr txBox="1"/>
          <p:nvPr/>
        </p:nvSpPr>
        <p:spPr>
          <a:xfrm>
            <a:off x="4608576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P</a:t>
            </a:r>
            <a:endParaRPr lang="en-US" sz="3200" dirty="0"/>
          </a:p>
        </p:txBody>
      </p:sp>
      <p:sp>
        <p:nvSpPr>
          <p:cNvPr id="12" name="Text 144"/>
          <p:cNvSpPr txBox="1"/>
          <p:nvPr/>
        </p:nvSpPr>
        <p:spPr>
          <a:xfrm>
            <a:off x="5660136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Regis &amp; Diane</a:t>
            </a:r>
            <a:endParaRPr lang="en-US" sz="2600" dirty="0"/>
          </a:p>
        </p:txBody>
      </p:sp>
      <p:sp>
        <p:nvSpPr>
          <p:cNvPr id="13" name="Text 145"/>
          <p:cNvSpPr txBox="1"/>
          <p:nvPr/>
        </p:nvSpPr>
        <p:spPr>
          <a:xfrm>
            <a:off x="5660136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 Developer</a:t>
            </a:r>
            <a:endParaRPr lang="en-US" sz="1400" dirty="0"/>
          </a:p>
        </p:txBody>
      </p:sp>
      <p:sp>
        <p:nvSpPr>
          <p:cNvPr id="14" name="Text 146"/>
          <p:cNvSpPr txBox="1"/>
          <p:nvPr/>
        </p:nvSpPr>
        <p:spPr>
          <a:xfrm>
            <a:off x="4608576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Builds navigation, product listings, product details, and the cart layout. Makes pages work on mobile and desktop.</a:t>
            </a:r>
            <a:endParaRPr lang="en-US" sz="1600" dirty="0"/>
          </a:p>
        </p:txBody>
      </p:sp>
      <p:sp>
        <p:nvSpPr>
          <p:cNvPr id="15" name="Team card 147"/>
          <p:cNvSpPr/>
          <p:nvPr/>
        </p:nvSpPr>
        <p:spPr>
          <a:xfrm>
            <a:off x="8028432" y="1417320"/>
            <a:ext cx="361188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6" name="Avatar 148"/>
          <p:cNvSpPr/>
          <p:nvPr/>
        </p:nvSpPr>
        <p:spPr>
          <a:xfrm>
            <a:off x="8348472" y="17373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49"/>
          <p:cNvSpPr txBox="1"/>
          <p:nvPr/>
        </p:nvSpPr>
        <p:spPr>
          <a:xfrm>
            <a:off x="8348472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D</a:t>
            </a:r>
            <a:endParaRPr lang="en-US" sz="3200" dirty="0"/>
          </a:p>
        </p:txBody>
      </p:sp>
      <p:sp>
        <p:nvSpPr>
          <p:cNvPr id="18" name="Text 150"/>
          <p:cNvSpPr txBox="1"/>
          <p:nvPr/>
        </p:nvSpPr>
        <p:spPr>
          <a:xfrm>
            <a:off x="9400032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Dianee</a:t>
            </a:r>
            <a:endParaRPr lang="en-US" sz="2600" dirty="0"/>
          </a:p>
        </p:txBody>
      </p:sp>
      <p:sp>
        <p:nvSpPr>
          <p:cNvPr id="19" name="Text 151"/>
          <p:cNvSpPr txBox="1"/>
          <p:nvPr/>
        </p:nvSpPr>
        <p:spPr>
          <a:xfrm>
            <a:off x="9400032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 and QA Lead</a:t>
            </a:r>
            <a:endParaRPr lang="en-US" sz="1400" dirty="0"/>
          </a:p>
        </p:txBody>
      </p:sp>
      <p:sp>
        <p:nvSpPr>
          <p:cNvPr id="20" name="Text 152"/>
          <p:cNvSpPr txBox="1"/>
          <p:nvPr/>
        </p:nvSpPr>
        <p:spPr>
          <a:xfrm>
            <a:off x="8348472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Designs MySQL tables, checks data relationships, tests key user journeys, records bugs, and confirms fixes.</a:t>
            </a:r>
            <a:endParaRPr lang="en-US" sz="1600" dirty="0"/>
          </a:p>
        </p:txBody>
      </p:sp>
      <p:sp>
        <p:nvSpPr>
          <p:cNvPr id="21" name="Practice banner 153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2" name="Text 154"/>
          <p:cNvSpPr txBox="1"/>
          <p:nvPr/>
        </p:nvSpPr>
        <p:spPr>
          <a:xfrm>
            <a:off x="86868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Team practice:  </a:t>
            </a:r>
            <a:r>
              <a:rPr lang="en-US" sz="1800" dirty="0">
                <a:solidFill>
                  <a:schemeClr val="bg1"/>
                </a:solidFill>
              </a:rPr>
              <a:t>review progress together  ·  commit code regularly  ·  ask for help early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GitHub setup and workflow</a:t>
            </a:r>
            <a:endParaRPr lang="en-US" sz="3600" dirty="0"/>
          </a:p>
        </p:txBody>
      </p:sp>
      <p:sp>
        <p:nvSpPr>
          <p:cNvPr id="3" name="Text 155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4"/>
                </a:solidFill>
              </a:rPr>
              <a:t>SUGGESTED WORKFLOW</a:t>
            </a:r>
            <a:endParaRPr lang="en-US" sz="1400" dirty="0"/>
          </a:p>
        </p:txBody>
      </p:sp>
      <p:sp>
        <p:nvSpPr>
          <p:cNvPr id="4" name="Workflow card 156"/>
          <p:cNvSpPr/>
          <p:nvPr/>
        </p:nvSpPr>
        <p:spPr>
          <a:xfrm>
            <a:off x="54864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Icon circle 157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158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17" y="2172157"/>
            <a:ext cx="273406" cy="273406"/>
          </a:xfrm>
          <a:prstGeom prst="rect">
            <a:avLst/>
          </a:prstGeom>
        </p:spPr>
      </p:pic>
      <p:sp>
        <p:nvSpPr>
          <p:cNvPr id="7" name="Text 159"/>
          <p:cNvSpPr txBox="1"/>
          <p:nvPr/>
        </p:nvSpPr>
        <p:spPr>
          <a:xfrm>
            <a:off x="2560320" y="20116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160"/>
          <p:cNvSpPr txBox="1"/>
          <p:nvPr/>
        </p:nvSpPr>
        <p:spPr>
          <a:xfrm>
            <a:off x="777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Own branch</a:t>
            </a:r>
            <a:endParaRPr lang="en-US" sz="1800" dirty="0"/>
          </a:p>
        </p:txBody>
      </p:sp>
      <p:sp>
        <p:nvSpPr>
          <p:cNvPr id="9" name="Text 161"/>
          <p:cNvSpPr txBox="1"/>
          <p:nvPr/>
        </p:nvSpPr>
        <p:spPr>
          <a:xfrm>
            <a:off x="777240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branch per member</a:t>
            </a:r>
            <a:endParaRPr lang="en-US" sz="1400" dirty="0"/>
          </a:p>
        </p:txBody>
      </p:sp>
      <p:sp>
        <p:nvSpPr>
          <p:cNvPr id="10" name="Arrow 162"/>
          <p:cNvSpPr/>
          <p:nvPr/>
        </p:nvSpPr>
        <p:spPr>
          <a:xfrm>
            <a:off x="3182112" y="2441448"/>
            <a:ext cx="17373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1" name="Workflow card 163"/>
          <p:cNvSpPr/>
          <p:nvPr/>
        </p:nvSpPr>
        <p:spPr>
          <a:xfrm>
            <a:off x="338328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2" name="Icon circle 164"/>
          <p:cNvSpPr/>
          <p:nvPr/>
        </p:nvSpPr>
        <p:spPr>
          <a:xfrm>
            <a:off x="361188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165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357" y="2172157"/>
            <a:ext cx="273406" cy="273406"/>
          </a:xfrm>
          <a:prstGeom prst="rect">
            <a:avLst/>
          </a:prstGeom>
        </p:spPr>
      </p:pic>
      <p:sp>
        <p:nvSpPr>
          <p:cNvPr id="14" name="Text 166"/>
          <p:cNvSpPr txBox="1"/>
          <p:nvPr/>
        </p:nvSpPr>
        <p:spPr>
          <a:xfrm>
            <a:off x="5394960" y="20116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4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67"/>
          <p:cNvSpPr txBox="1"/>
          <p:nvPr/>
        </p:nvSpPr>
        <p:spPr>
          <a:xfrm>
            <a:off x="36118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Clear commits</a:t>
            </a:r>
            <a:endParaRPr lang="en-US" sz="1800" dirty="0"/>
          </a:p>
        </p:txBody>
      </p:sp>
      <p:sp>
        <p:nvSpPr>
          <p:cNvPr id="16" name="Text 168"/>
          <p:cNvSpPr txBox="1"/>
          <p:nvPr/>
        </p:nvSpPr>
        <p:spPr>
          <a:xfrm>
            <a:off x="3611880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Short, meaningful messages</a:t>
            </a:r>
            <a:endParaRPr lang="en-US" sz="1400" dirty="0"/>
          </a:p>
        </p:txBody>
      </p:sp>
      <p:sp>
        <p:nvSpPr>
          <p:cNvPr id="17" name="Arrow 169"/>
          <p:cNvSpPr/>
          <p:nvPr/>
        </p:nvSpPr>
        <p:spPr>
          <a:xfrm>
            <a:off x="6016752" y="2441448"/>
            <a:ext cx="17373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Workflow card 170"/>
          <p:cNvSpPr/>
          <p:nvPr/>
        </p:nvSpPr>
        <p:spPr>
          <a:xfrm>
            <a:off x="621792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9" name="Icon circle 171"/>
          <p:cNvSpPr/>
          <p:nvPr/>
        </p:nvSpPr>
        <p:spPr>
          <a:xfrm>
            <a:off x="644652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17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997" y="2172157"/>
            <a:ext cx="273406" cy="273406"/>
          </a:xfrm>
          <a:prstGeom prst="rect">
            <a:avLst/>
          </a:prstGeom>
        </p:spPr>
      </p:pic>
      <p:sp>
        <p:nvSpPr>
          <p:cNvPr id="21" name="Text 173"/>
          <p:cNvSpPr txBox="1"/>
          <p:nvPr/>
        </p:nvSpPr>
        <p:spPr>
          <a:xfrm>
            <a:off x="8229600" y="20116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</a:t>
            </a:r>
            <a:endParaRPr lang="en-US" sz="2800" dirty="0"/>
          </a:p>
        </p:txBody>
      </p:sp>
      <p:sp>
        <p:nvSpPr>
          <p:cNvPr id="22" name="Text 174"/>
          <p:cNvSpPr txBox="1"/>
          <p:nvPr/>
        </p:nvSpPr>
        <p:spPr>
          <a:xfrm>
            <a:off x="64465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Pull request</a:t>
            </a:r>
            <a:endParaRPr lang="en-US" sz="1800" dirty="0"/>
          </a:p>
        </p:txBody>
      </p:sp>
      <p:sp>
        <p:nvSpPr>
          <p:cNvPr id="23" name="Text 175"/>
          <p:cNvSpPr txBox="1"/>
          <p:nvPr/>
        </p:nvSpPr>
        <p:spPr>
          <a:xfrm>
            <a:off x="6446520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Opened for team review</a:t>
            </a:r>
            <a:endParaRPr lang="en-US" sz="1400" dirty="0"/>
          </a:p>
        </p:txBody>
      </p:sp>
      <p:sp>
        <p:nvSpPr>
          <p:cNvPr id="24" name="Arrow 176"/>
          <p:cNvSpPr/>
          <p:nvPr/>
        </p:nvSpPr>
        <p:spPr>
          <a:xfrm>
            <a:off x="8851392" y="2441448"/>
            <a:ext cx="173736" cy="27432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5" name="Workflow card 177"/>
          <p:cNvSpPr/>
          <p:nvPr/>
        </p:nvSpPr>
        <p:spPr>
          <a:xfrm>
            <a:off x="905256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6" name="Icon circle 178"/>
          <p:cNvSpPr/>
          <p:nvPr/>
        </p:nvSpPr>
        <p:spPr>
          <a:xfrm>
            <a:off x="928116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 179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637" y="2172157"/>
            <a:ext cx="273406" cy="273406"/>
          </a:xfrm>
          <a:prstGeom prst="rect">
            <a:avLst/>
          </a:prstGeom>
        </p:spPr>
      </p:pic>
      <p:sp>
        <p:nvSpPr>
          <p:cNvPr id="28" name="Text 180"/>
          <p:cNvSpPr txBox="1"/>
          <p:nvPr/>
        </p:nvSpPr>
        <p:spPr>
          <a:xfrm>
            <a:off x="11064240" y="20116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4"/>
                </a:solidFill>
              </a:rPr>
              <a:t>4</a:t>
            </a:r>
            <a:endParaRPr lang="en-US" sz="2800" dirty="0"/>
          </a:p>
        </p:txBody>
      </p:sp>
      <p:sp>
        <p:nvSpPr>
          <p:cNvPr id="29" name="Text 181"/>
          <p:cNvSpPr txBox="1"/>
          <p:nvPr/>
        </p:nvSpPr>
        <p:spPr>
          <a:xfrm>
            <a:off x="92811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 and merge</a:t>
            </a:r>
            <a:endParaRPr lang="en-US" sz="1800" dirty="0"/>
          </a:p>
        </p:txBody>
      </p:sp>
      <p:sp>
        <p:nvSpPr>
          <p:cNvPr id="30" name="Text 182"/>
          <p:cNvSpPr txBox="1"/>
          <p:nvPr/>
        </p:nvSpPr>
        <p:spPr>
          <a:xfrm>
            <a:off x="9281160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Approved work joins main</a:t>
            </a:r>
            <a:endParaRPr lang="en-US" sz="1400" dirty="0"/>
          </a:p>
        </p:txBody>
      </p:sp>
      <p:sp>
        <p:nvSpPr>
          <p:cNvPr id="31" name="Repo card 183"/>
          <p:cNvSpPr/>
          <p:nvPr/>
        </p:nvSpPr>
        <p:spPr>
          <a:xfrm>
            <a:off x="548640" y="3749040"/>
            <a:ext cx="384048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32" name="Icon circle 184"/>
          <p:cNvSpPr/>
          <p:nvPr/>
        </p:nvSpPr>
        <p:spPr>
          <a:xfrm>
            <a:off x="86868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 185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90" y="4220870"/>
            <a:ext cx="336499" cy="336499"/>
          </a:xfrm>
          <a:prstGeom prst="rect">
            <a:avLst/>
          </a:prstGeom>
        </p:spPr>
      </p:pic>
      <p:sp>
        <p:nvSpPr>
          <p:cNvPr id="34" name="Text 186"/>
          <p:cNvSpPr txBox="1"/>
          <p:nvPr/>
        </p:nvSpPr>
        <p:spPr>
          <a:xfrm>
            <a:off x="86868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Repository name</a:t>
            </a:r>
            <a:endParaRPr lang="en-US" sz="1400" dirty="0"/>
          </a:p>
        </p:txBody>
      </p:sp>
      <p:sp>
        <p:nvSpPr>
          <p:cNvPr id="35" name="Text 187"/>
          <p:cNvSpPr txBox="1"/>
          <p:nvPr/>
        </p:nvSpPr>
        <p:spPr>
          <a:xfrm>
            <a:off x="868680" y="5166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HEXASHOP</a:t>
            </a:r>
            <a:endParaRPr lang="en-US" sz="3000" dirty="0"/>
          </a:p>
        </p:txBody>
      </p:sp>
      <p:sp>
        <p:nvSpPr>
          <p:cNvPr id="36" name="Text 188"/>
          <p:cNvSpPr txBox="1"/>
          <p:nvPr/>
        </p:nvSpPr>
        <p:spPr>
          <a:xfrm>
            <a:off x="868680" y="5623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</a:rPr>
              <a:t>Link to be added once the repository is created</a:t>
            </a:r>
            <a:endParaRPr lang="en-US" sz="1200" dirty="0"/>
          </a:p>
        </p:txBody>
      </p:sp>
      <p:sp>
        <p:nvSpPr>
          <p:cNvPr id="37" name="README card 189"/>
          <p:cNvSpPr/>
          <p:nvPr/>
        </p:nvSpPr>
        <p:spPr>
          <a:xfrm>
            <a:off x="4617720" y="3749040"/>
            <a:ext cx="7022592" cy="2286000"/>
          </a:xfrm>
          <a:prstGeom prst="roundRect">
            <a:avLst>
              <a:gd name="adj" fmla="val 4800"/>
            </a:avLst>
          </a:prstGeom>
          <a:solidFill>
            <a:schemeClr val="accent3"/>
          </a:solidFill>
          <a:ln/>
        </p:spPr>
      </p:sp>
      <p:sp>
        <p:nvSpPr>
          <p:cNvPr id="38" name="Text 190"/>
          <p:cNvSpPr txBox="1"/>
          <p:nvPr/>
        </p:nvSpPr>
        <p:spPr>
          <a:xfrm>
            <a:off x="4937760" y="3886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README.md should include</a:t>
            </a:r>
            <a:endParaRPr lang="en-US" sz="2200" dirty="0"/>
          </a:p>
        </p:txBody>
      </p:sp>
      <p:sp>
        <p:nvSpPr>
          <p:cNvPr id="39" name="Text 191"/>
          <p:cNvSpPr txBox="1"/>
          <p:nvPr/>
        </p:nvSpPr>
        <p:spPr>
          <a:xfrm>
            <a:off x="493776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Project title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Project description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 features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40" name="Text 192"/>
          <p:cNvSpPr txBox="1"/>
          <p:nvPr/>
        </p:nvSpPr>
        <p:spPr>
          <a:xfrm>
            <a:off x="813816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Setup instructions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Team members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Architecture diagram</a:t>
            </a:r>
            <a:endParaRPr lang="en-US" sz="16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F54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Summary</a:t>
            </a:r>
            <a:endParaRPr lang="en-US" sz="3600" dirty="0"/>
          </a:p>
        </p:txBody>
      </p:sp>
      <p:sp>
        <p:nvSpPr>
          <p:cNvPr id="3" name="Text 193"/>
          <p:cNvSpPr txBox="1"/>
          <p:nvPr/>
        </p:nvSpPr>
        <p:spPr>
          <a:xfrm>
            <a:off x="548640" y="14630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A simple full-stack fashion shopping website, built in a two-week sprint by Regis, Pascaline, and Dianee.</a:t>
            </a:r>
            <a:endParaRPr lang="en-US" sz="2200" dirty="0"/>
          </a:p>
        </p:txBody>
      </p:sp>
      <p:sp>
        <p:nvSpPr>
          <p:cNvPr id="4" name="Icon circle 194"/>
          <p:cNvSpPr/>
          <p:nvPr/>
        </p:nvSpPr>
        <p:spPr>
          <a:xfrm>
            <a:off x="548640" y="2834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195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032150"/>
            <a:ext cx="336499" cy="336499"/>
          </a:xfrm>
          <a:prstGeom prst="rect">
            <a:avLst/>
          </a:prstGeom>
        </p:spPr>
      </p:pic>
      <p:sp>
        <p:nvSpPr>
          <p:cNvPr id="6" name="Text 196"/>
          <p:cNvSpPr txBox="1"/>
          <p:nvPr/>
        </p:nvSpPr>
        <p:spPr>
          <a:xfrm>
            <a:off x="1508760" y="2816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Frontend</a:t>
            </a:r>
            <a:endParaRPr lang="en-US" sz="2000" dirty="0"/>
          </a:p>
        </p:txBody>
      </p:sp>
      <p:sp>
        <p:nvSpPr>
          <p:cNvPr id="7" name="Text 197"/>
          <p:cNvSpPr txBox="1"/>
          <p:nvPr/>
        </p:nvSpPr>
        <p:spPr>
          <a:xfrm>
            <a:off x="1508760" y="3182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HTML, CSS, JavaScript</a:t>
            </a:r>
            <a:endParaRPr lang="en-US" sz="1600" dirty="0"/>
          </a:p>
        </p:txBody>
      </p:sp>
      <p:sp>
        <p:nvSpPr>
          <p:cNvPr id="8" name="Icon circle 198"/>
          <p:cNvSpPr/>
          <p:nvPr/>
        </p:nvSpPr>
        <p:spPr>
          <a:xfrm>
            <a:off x="548640" y="3913632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 199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4111142"/>
            <a:ext cx="336499" cy="336499"/>
          </a:xfrm>
          <a:prstGeom prst="rect">
            <a:avLst/>
          </a:prstGeom>
        </p:spPr>
      </p:pic>
      <p:sp>
        <p:nvSpPr>
          <p:cNvPr id="10" name="Text 200"/>
          <p:cNvSpPr txBox="1"/>
          <p:nvPr/>
        </p:nvSpPr>
        <p:spPr>
          <a:xfrm>
            <a:off x="1508760" y="38953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Backend</a:t>
            </a:r>
            <a:endParaRPr lang="en-US" sz="2000" dirty="0"/>
          </a:p>
        </p:txBody>
      </p:sp>
      <p:sp>
        <p:nvSpPr>
          <p:cNvPr id="11" name="Text 201"/>
          <p:cNvSpPr txBox="1"/>
          <p:nvPr/>
        </p:nvSpPr>
        <p:spPr>
          <a:xfrm>
            <a:off x="1508760" y="4261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PHP handles the application logic</a:t>
            </a:r>
            <a:endParaRPr lang="en-US" sz="1600" dirty="0"/>
          </a:p>
        </p:txBody>
      </p:sp>
      <p:sp>
        <p:nvSpPr>
          <p:cNvPr id="12" name="Icon circle 202"/>
          <p:cNvSpPr/>
          <p:nvPr/>
        </p:nvSpPr>
        <p:spPr>
          <a:xfrm>
            <a:off x="548640" y="4992624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203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" y="5190134"/>
            <a:ext cx="336499" cy="336499"/>
          </a:xfrm>
          <a:prstGeom prst="rect">
            <a:avLst/>
          </a:prstGeom>
        </p:spPr>
      </p:pic>
      <p:sp>
        <p:nvSpPr>
          <p:cNvPr id="14" name="Text 204"/>
          <p:cNvSpPr txBox="1"/>
          <p:nvPr/>
        </p:nvSpPr>
        <p:spPr>
          <a:xfrm>
            <a:off x="1508760" y="4974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Database</a:t>
            </a:r>
            <a:endParaRPr lang="en-US" sz="2000" dirty="0"/>
          </a:p>
        </p:txBody>
      </p:sp>
      <p:sp>
        <p:nvSpPr>
          <p:cNvPr id="15" name="Text 205"/>
          <p:cNvSpPr txBox="1"/>
          <p:nvPr/>
        </p:nvSpPr>
        <p:spPr>
          <a:xfrm>
            <a:off x="1508760" y="53400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MySQL stores users, products, orders, order items</a:t>
            </a:r>
            <a:endParaRPr lang="en-US" sz="1600" dirty="0"/>
          </a:p>
        </p:txBody>
      </p:sp>
      <p:sp>
        <p:nvSpPr>
          <p:cNvPr id="16" name="Next steps card 206"/>
          <p:cNvSpPr/>
          <p:nvPr/>
        </p:nvSpPr>
        <p:spPr>
          <a:xfrm>
            <a:off x="7223760" y="1463040"/>
            <a:ext cx="4416552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/>
        </p:spPr>
      </p:sp>
      <p:sp>
        <p:nvSpPr>
          <p:cNvPr id="17" name="Text 207"/>
          <p:cNvSpPr txBox="1"/>
          <p:nvPr/>
        </p:nvSpPr>
        <p:spPr>
          <a:xfrm>
            <a:off x="758952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Before submission</a:t>
            </a:r>
            <a:endParaRPr lang="en-US" sz="2600" dirty="0"/>
          </a:p>
        </p:txBody>
      </p:sp>
      <p:sp>
        <p:nvSpPr>
          <p:cNvPr id="18" name="Check dot 208"/>
          <p:cNvSpPr/>
          <p:nvPr/>
        </p:nvSpPr>
        <p:spPr>
          <a:xfrm>
            <a:off x="758952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heck 209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2715768"/>
            <a:ext cx="237744" cy="237744"/>
          </a:xfrm>
          <a:prstGeom prst="rect">
            <a:avLst/>
          </a:prstGeom>
        </p:spPr>
      </p:pic>
      <p:sp>
        <p:nvSpPr>
          <p:cNvPr id="20" name="Text 210"/>
          <p:cNvSpPr txBox="1"/>
          <p:nvPr/>
        </p:nvSpPr>
        <p:spPr>
          <a:xfrm>
            <a:off x="82296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Confirm the task estimates</a:t>
            </a:r>
            <a:endParaRPr lang="en-US" sz="1800" dirty="0"/>
          </a:p>
        </p:txBody>
      </p:sp>
      <p:sp>
        <p:nvSpPr>
          <p:cNvPr id="21" name="Check dot 211"/>
          <p:cNvSpPr/>
          <p:nvPr/>
        </p:nvSpPr>
        <p:spPr>
          <a:xfrm>
            <a:off x="758952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heck 212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3493008"/>
            <a:ext cx="237744" cy="237744"/>
          </a:xfrm>
          <a:prstGeom prst="rect">
            <a:avLst/>
          </a:prstGeom>
        </p:spPr>
      </p:pic>
      <p:sp>
        <p:nvSpPr>
          <p:cNvPr id="23" name="Text 213"/>
          <p:cNvSpPr txBox="1"/>
          <p:nvPr/>
        </p:nvSpPr>
        <p:spPr>
          <a:xfrm>
            <a:off x="82296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Create the GitHub repository</a:t>
            </a:r>
            <a:endParaRPr lang="en-US" sz="1800" dirty="0"/>
          </a:p>
        </p:txBody>
      </p:sp>
      <p:sp>
        <p:nvSpPr>
          <p:cNvPr id="24" name="Check dot 214"/>
          <p:cNvSpPr/>
          <p:nvPr/>
        </p:nvSpPr>
        <p:spPr>
          <a:xfrm>
            <a:off x="758952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Check 215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4270248"/>
            <a:ext cx="237744" cy="237744"/>
          </a:xfrm>
          <a:prstGeom prst="rect">
            <a:avLst/>
          </a:prstGeom>
        </p:spPr>
      </p:pic>
      <p:sp>
        <p:nvSpPr>
          <p:cNvPr id="26" name="Text 216"/>
          <p:cNvSpPr txBox="1"/>
          <p:nvPr/>
        </p:nvSpPr>
        <p:spPr>
          <a:xfrm>
            <a:off x="822960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Add the real repository link</a:t>
            </a:r>
            <a:endParaRPr lang="en-US" sz="1800" dirty="0"/>
          </a:p>
        </p:txBody>
      </p:sp>
      <p:sp>
        <p:nvSpPr>
          <p:cNvPr id="27" name="Check dot 217"/>
          <p:cNvSpPr/>
          <p:nvPr/>
        </p:nvSpPr>
        <p:spPr>
          <a:xfrm>
            <a:off x="7589520" y="4937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Check 218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5047488"/>
            <a:ext cx="237744" cy="237744"/>
          </a:xfrm>
          <a:prstGeom prst="rect">
            <a:avLst/>
          </a:prstGeom>
        </p:spPr>
      </p:pic>
      <p:sp>
        <p:nvSpPr>
          <p:cNvPr id="29" name="Text 219"/>
          <p:cNvSpPr txBox="1"/>
          <p:nvPr/>
        </p:nvSpPr>
        <p:spPr>
          <a:xfrm>
            <a:off x="822960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Add the architecture diagram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2A9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XASHOP">
  <a:themeElements>
    <a:clrScheme name="HEXASHOP">
      <a:dk1>
        <a:srgbClr val="1B1624"/>
      </a:dk1>
      <a:lt1>
        <a:srgbClr val="FFFFFF"/>
      </a:lt1>
      <a:dk2>
        <a:srgbClr val="2A1F3D"/>
      </a:dk2>
      <a:lt2>
        <a:srgbClr val="F6F0F3"/>
      </a:lt2>
      <a:accent1>
        <a:srgbClr val="C93F22"/>
      </a:accent1>
      <a:accent2>
        <a:srgbClr val="5B3F73"/>
      </a:accent2>
      <a:accent3>
        <a:srgbClr val="F7E4DC"/>
      </a:accent3>
      <a:accent4>
        <a:srgbClr val="6F5480"/>
      </a:accent4>
      <a:accent5>
        <a:srgbClr val="2B8C7E"/>
      </a:accent5>
      <a:accent6>
        <a:srgbClr val="F2A98C"/>
      </a:accent6>
      <a:hlink>
        <a:srgbClr val="C93F22"/>
      </a:hlink>
      <a:folHlink>
        <a:srgbClr val="6F5480"/>
      </a:folHlink>
    </a:clrScheme>
    <a:fontScheme name="HEXASH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896</Words>
  <Application>Microsoft Office PowerPoint</Application>
  <PresentationFormat>Widescreen</PresentationFormat>
  <Paragraphs>249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HEXASHOP</vt:lpstr>
      <vt:lpstr>HEXASHOP</vt:lpstr>
      <vt:lpstr>What HEXASHOP is</vt:lpstr>
      <vt:lpstr>Who uses it and what it offers</vt:lpstr>
      <vt:lpstr>System architecture: three parts</vt:lpstr>
      <vt:lpstr>Database plan: four tables</vt:lpstr>
      <vt:lpstr>Sprint plan: a working first version</vt:lpstr>
      <vt:lpstr>Sprint tasks (1 of 2)</vt:lpstr>
      <vt:lpstr>Sprint tasks (2 of 2)</vt:lpstr>
      <vt:lpstr>Team roles</vt:lpstr>
      <vt:lpstr>GitHub setup and workflow</vt:lpstr>
      <vt:lpstr>Summary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HEXASHOP - Architecture and Sprint Planning</dc:title>
  <dc:subject>PptxGenJS Presentation</dc:subject>
  <dc:creator>Regis, Pascaline, Dianee</dc:creator>
  <cp:lastModifiedBy>Regi Ishema</cp:lastModifiedBy>
  <cp:revision>3</cp:revision>
  <dcterms:created xsi:type="dcterms:W3CDTF">2026-10-13T19:27:50Z</dcterms:created>
  <dcterms:modified xsi:type="dcterms:W3CDTF">2026-10-14T07:42:14Z</dcterms:modified>
</cp:coreProperties>
</file>